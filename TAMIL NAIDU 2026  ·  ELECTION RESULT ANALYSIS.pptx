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482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54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321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55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922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827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991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60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648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647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613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127B9-62DC-4BEA-822A-C0F9F70376F9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C2090-2154-401B-B4DE-BDADB6F25E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6796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93106"/>
            <a:ext cx="9144000" cy="717847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l"/>
            <a:r>
              <a:rPr lang="en-US" sz="2000" b="1" kern="0" spc="200" dirty="0" smtClean="0">
                <a:solidFill>
                  <a:schemeClr val="accent1">
                    <a:lumMod val="50000"/>
                  </a:schemeClr>
                </a:solidFill>
              </a:rPr>
              <a:t>TAMIL NAIDU 2026  ·  ELECTION RESULT ANALYSIS</a:t>
            </a:r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sz="2000" b="1" dirty="0" smtClean="0">
                <a:solidFill>
                  <a:schemeClr val="accent1">
                    <a:lumMod val="50000"/>
                  </a:schemeClr>
                </a:solidFill>
              </a:rPr>
            </a:br>
            <a:endParaRPr lang="en-IN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230595"/>
            <a:ext cx="9144000" cy="4027206"/>
          </a:xfrm>
        </p:spPr>
        <p:txBody>
          <a:bodyPr/>
          <a:lstStyle/>
          <a:p>
            <a:pPr algn="l"/>
            <a:r>
              <a:rPr lang="en-US" sz="5400" dirty="0" smtClean="0"/>
              <a:t>THREE STORIES THAT</a:t>
            </a:r>
          </a:p>
          <a:p>
            <a:pPr algn="l"/>
            <a:r>
              <a:rPr lang="en-US" sz="5400" dirty="0" smtClean="0"/>
              <a:t>EXPLAIN 2026</a:t>
            </a:r>
          </a:p>
          <a:p>
            <a:pPr algn="l">
              <a:lnSpc>
                <a:spcPct val="150000"/>
              </a:lnSpc>
            </a:pPr>
            <a:r>
              <a:rPr lang="en-US" b="1" i="1" dirty="0" smtClean="0">
                <a:solidFill>
                  <a:srgbClr val="F5A623"/>
                </a:solidFill>
              </a:rPr>
              <a:t>The Geographic · The Flip · The Margin</a:t>
            </a:r>
            <a:endParaRPr lang="en-US" dirty="0" smtClean="0"/>
          </a:p>
          <a:p>
            <a:pPr algn="l">
              <a:lnSpc>
                <a:spcPct val="150000"/>
              </a:lnSpc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234 constituencies. 72 million votes. One night that</a:t>
            </a:r>
          </a:p>
          <a:p>
            <a:pPr algn="l">
              <a:lnSpc>
                <a:spcPct val="100000"/>
              </a:lnSpc>
            </a:pPr>
            <a:r>
              <a:rPr lang="en-US" sz="2000" dirty="0" smtClean="0">
                <a:solidFill>
                  <a:schemeClr val="accent5">
                    <a:lumMod val="75000"/>
                  </a:schemeClr>
                </a:solidFill>
              </a:rPr>
              <a:t>reshaped Tamil Nadu politics forever.</a:t>
            </a:r>
          </a:p>
          <a:p>
            <a:endParaRPr lang="en-IN" dirty="0"/>
          </a:p>
        </p:txBody>
      </p:sp>
      <p:sp>
        <p:nvSpPr>
          <p:cNvPr id="4" name="Shape 6"/>
          <p:cNvSpPr/>
          <p:nvPr/>
        </p:nvSpPr>
        <p:spPr>
          <a:xfrm>
            <a:off x="8027920" y="1318616"/>
            <a:ext cx="22860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sz="2800" b="1" dirty="0" smtClean="0">
                <a:solidFill>
                  <a:srgbClr val="FFC000"/>
                </a:solidFill>
              </a:rPr>
              <a:t>TVK won </a:t>
            </a:r>
            <a:r>
              <a:rPr lang="en-US" sz="2800" b="1" dirty="0" smtClean="0">
                <a:solidFill>
                  <a:srgbClr val="92D050"/>
                </a:solidFill>
              </a:rPr>
              <a:t>29</a:t>
            </a:r>
            <a:r>
              <a:rPr lang="en-US" sz="2800" b="1" dirty="0" smtClean="0">
                <a:solidFill>
                  <a:srgbClr val="FFC000"/>
                </a:solidFill>
              </a:rPr>
              <a:t> of 32</a:t>
            </a:r>
            <a:endParaRPr lang="en-IN" sz="2800" b="1" dirty="0">
              <a:solidFill>
                <a:srgbClr val="FFC000"/>
              </a:solidFill>
            </a:endParaRPr>
          </a:p>
        </p:txBody>
      </p:sp>
      <p:sp>
        <p:nvSpPr>
          <p:cNvPr id="5" name="Shape 9"/>
          <p:cNvSpPr/>
          <p:nvPr/>
        </p:nvSpPr>
        <p:spPr>
          <a:xfrm>
            <a:off x="8027920" y="2630883"/>
            <a:ext cx="22860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dirty="0" smtClean="0"/>
              <a:t>Seats flipped</a:t>
            </a:r>
            <a:endParaRPr lang="en-IN" dirty="0"/>
          </a:p>
        </p:txBody>
      </p:sp>
      <p:sp>
        <p:nvSpPr>
          <p:cNvPr id="6" name="Shape 12"/>
          <p:cNvSpPr/>
          <p:nvPr/>
        </p:nvSpPr>
        <p:spPr>
          <a:xfrm>
            <a:off x="8027920" y="3970376"/>
            <a:ext cx="22860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algn="ctr"/>
            <a:r>
              <a:rPr lang="en-US" dirty="0" smtClean="0"/>
              <a:t>Avg. Margin</a:t>
            </a:r>
          </a:p>
          <a:p>
            <a:pPr algn="ctr">
              <a:lnSpc>
                <a:spcPct val="150000"/>
              </a:lnSpc>
            </a:pPr>
            <a:r>
              <a:rPr lang="en-US" sz="3200" b="1" dirty="0" smtClean="0">
                <a:solidFill>
                  <a:srgbClr val="FFC000"/>
                </a:solidFill>
              </a:rPr>
              <a:t>16.78K</a:t>
            </a:r>
            <a:endParaRPr lang="en-IN" sz="3200" b="1" dirty="0">
              <a:solidFill>
                <a:srgbClr val="FFC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66001" y="3033393"/>
            <a:ext cx="8098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F5A623"/>
                </a:solidFill>
              </a:rPr>
              <a:t>163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6998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1180175" y="136391"/>
            <a:ext cx="8595360" cy="1938528"/>
            <a:chOff x="274320" y="256032"/>
            <a:chExt cx="8595360" cy="1938528"/>
          </a:xfrm>
        </p:grpSpPr>
        <p:sp>
          <p:nvSpPr>
            <p:cNvPr id="47" name="Text 1"/>
            <p:cNvSpPr/>
            <p:nvPr/>
          </p:nvSpPr>
          <p:spPr>
            <a:xfrm>
              <a:off x="365760" y="25603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F5A623"/>
                  </a:solidFill>
                </a:rPr>
                <a:t>THE BRIEF</a:t>
              </a:r>
              <a:endParaRPr lang="en-US" sz="900" dirty="0"/>
            </a:p>
          </p:txBody>
        </p:sp>
        <p:sp>
          <p:nvSpPr>
            <p:cNvPr id="48" name="Text 2"/>
            <p:cNvSpPr/>
            <p:nvPr/>
          </p:nvSpPr>
          <p:spPr>
            <a:xfrm>
              <a:off x="365760" y="475488"/>
              <a:ext cx="82296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FFFFFF"/>
                  </a:solidFill>
                </a:rPr>
                <a:t>What AtliQ Media Asked For</a:t>
              </a:r>
              <a:endParaRPr lang="en-US" sz="2800" dirty="0"/>
            </a:p>
          </p:txBody>
        </p:sp>
        <p:sp>
          <p:nvSpPr>
            <p:cNvPr id="49" name="Shape 3"/>
            <p:cNvSpPr/>
            <p:nvPr/>
          </p:nvSpPr>
          <p:spPr>
            <a:xfrm>
              <a:off x="274320" y="1115568"/>
              <a:ext cx="8595360" cy="1078992"/>
            </a:xfrm>
            <a:prstGeom prst="rect">
              <a:avLst/>
            </a:prstGeom>
            <a:solidFill>
              <a:srgbClr val="1A1510"/>
            </a:solidFill>
            <a:ln w="19050">
              <a:solidFill>
                <a:srgbClr val="F5A623"/>
              </a:solidFill>
              <a:prstDash val="solid"/>
            </a:ln>
            <a:effectLst>
              <a:outerShdw blurRad="127000" dist="381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0" name="Text 5"/>
            <p:cNvSpPr/>
            <p:nvPr/>
          </p:nvSpPr>
          <p:spPr>
            <a:xfrm>
              <a:off x="822960" y="1216152"/>
              <a:ext cx="786384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 err="1" smtClean="0"/>
                <a:t>AtliQ</a:t>
              </a:r>
              <a:r>
                <a:rPr lang="en-US" sz="1200" dirty="0" smtClean="0"/>
                <a:t> Media is preparing a one-hour television program covering the 2026 Tamil Nadu election results. While many broadcasters are expected to focus on opinion-driven debates, </a:t>
              </a:r>
              <a:r>
                <a:rPr lang="en-US" sz="1200" dirty="0" err="1" smtClean="0"/>
                <a:t>AtliQ</a:t>
              </a:r>
              <a:r>
                <a:rPr lang="en-US" sz="1200" dirty="0" smtClean="0"/>
                <a:t> aims to deliver a clear, objective, and data-driven analysis based exclusively on publicly available data from the Election Commission of India. The anchor will present the findings directly from your slides, and all on-screen visuals and graphics will be created using the insights generated from your analysis.</a:t>
              </a:r>
              <a:endParaRPr lang="en-US" sz="1150" dirty="0"/>
            </a:p>
          </p:txBody>
        </p:sp>
        <p:sp>
          <p:nvSpPr>
            <p:cNvPr id="51" name="Text 6"/>
            <p:cNvSpPr/>
            <p:nvPr/>
          </p:nvSpPr>
          <p:spPr>
            <a:xfrm>
              <a:off x="6858000" y="1984248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i="1" dirty="0">
                  <a:solidFill>
                    <a:srgbClr val="F5A623"/>
                  </a:solidFill>
                </a:rPr>
                <a:t>— AtliQ Media Brief</a:t>
              </a:r>
              <a:endParaRPr lang="en-US" sz="950" dirty="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1139027" y="2469134"/>
            <a:ext cx="8677656" cy="3086314"/>
            <a:chOff x="274320" y="2331720"/>
            <a:chExt cx="8677656" cy="2514600"/>
          </a:xfrm>
        </p:grpSpPr>
        <p:sp>
          <p:nvSpPr>
            <p:cNvPr id="53" name="Shape 8"/>
            <p:cNvSpPr/>
            <p:nvPr/>
          </p:nvSpPr>
          <p:spPr>
            <a:xfrm>
              <a:off x="274320" y="2331720"/>
              <a:ext cx="2788920" cy="64008"/>
            </a:xfrm>
            <a:prstGeom prst="rect">
              <a:avLst/>
            </a:prstGeom>
            <a:solidFill>
              <a:srgbClr val="F5A623"/>
            </a:solidFill>
            <a:ln w="12700">
              <a:solidFill>
                <a:srgbClr val="F5A623"/>
              </a:solidFill>
              <a:prstDash val="solid"/>
            </a:ln>
          </p:spPr>
        </p:sp>
        <p:sp>
          <p:nvSpPr>
            <p:cNvPr id="54" name="Text 9"/>
            <p:cNvSpPr/>
            <p:nvPr/>
          </p:nvSpPr>
          <p:spPr>
            <a:xfrm>
              <a:off x="384048" y="2441448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A623"/>
                  </a:solidFill>
                </a:rPr>
                <a:t>The Challenge</a:t>
              </a:r>
              <a:endParaRPr lang="en-US" sz="1200" dirty="0"/>
            </a:p>
          </p:txBody>
        </p:sp>
        <p:sp>
          <p:nvSpPr>
            <p:cNvPr id="55" name="Text 11"/>
            <p:cNvSpPr/>
            <p:nvPr/>
          </p:nvSpPr>
          <p:spPr>
            <a:xfrm>
              <a:off x="594360" y="2825496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Find the most interesting stories in the 2026 results</a:t>
              </a:r>
              <a:endParaRPr lang="en-US" sz="1050" dirty="0"/>
            </a:p>
          </p:txBody>
        </p:sp>
        <p:sp>
          <p:nvSpPr>
            <p:cNvPr id="56" name="Text 13"/>
            <p:cNvSpPr/>
            <p:nvPr/>
          </p:nvSpPr>
          <p:spPr>
            <a:xfrm>
              <a:off x="594360" y="3483864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Build clear charts for each story</a:t>
              </a:r>
              <a:endParaRPr lang="en-US" sz="1050" dirty="0"/>
            </a:p>
          </p:txBody>
        </p:sp>
        <p:sp>
          <p:nvSpPr>
            <p:cNvPr id="57" name="Text 15"/>
            <p:cNvSpPr/>
            <p:nvPr/>
          </p:nvSpPr>
          <p:spPr>
            <a:xfrm>
              <a:off x="594360" y="4142232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Make a regular viewer understand without complex charts</a:t>
              </a:r>
              <a:endParaRPr lang="en-US" sz="1050" dirty="0"/>
            </a:p>
          </p:txBody>
        </p:sp>
        <p:sp>
          <p:nvSpPr>
            <p:cNvPr id="58" name="Shape 16"/>
            <p:cNvSpPr/>
            <p:nvPr/>
          </p:nvSpPr>
          <p:spPr>
            <a:xfrm>
              <a:off x="3218688" y="2331720"/>
              <a:ext cx="2788920" cy="2514600"/>
            </a:xfrm>
            <a:prstGeom prst="rect">
              <a:avLst/>
            </a:prstGeom>
            <a:noFill/>
            <a:ln w="12700">
              <a:solidFill>
                <a:srgbClr val="4D9DE0"/>
              </a:solidFill>
              <a:prstDash val="solid"/>
            </a:ln>
            <a:effectLst>
              <a:outerShdw blurRad="127000" dist="381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59" name="Shape 17"/>
            <p:cNvSpPr/>
            <p:nvPr/>
          </p:nvSpPr>
          <p:spPr>
            <a:xfrm>
              <a:off x="3218688" y="2331720"/>
              <a:ext cx="2788920" cy="64008"/>
            </a:xfrm>
            <a:prstGeom prst="rect">
              <a:avLst/>
            </a:prstGeom>
            <a:solidFill>
              <a:srgbClr val="4D9DE0"/>
            </a:solidFill>
            <a:ln w="12700">
              <a:solidFill>
                <a:srgbClr val="4D9DE0"/>
              </a:solidFill>
              <a:prstDash val="solid"/>
            </a:ln>
          </p:spPr>
        </p:sp>
        <p:sp>
          <p:nvSpPr>
            <p:cNvPr id="60" name="Text 18"/>
            <p:cNvSpPr/>
            <p:nvPr/>
          </p:nvSpPr>
          <p:spPr>
            <a:xfrm>
              <a:off x="3328416" y="2441448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4D9DE0"/>
                  </a:solidFill>
                </a:rPr>
                <a:t>The Constraint</a:t>
              </a:r>
              <a:endParaRPr lang="en-US" sz="1200" dirty="0"/>
            </a:p>
          </p:txBody>
        </p:sp>
        <p:sp>
          <p:nvSpPr>
            <p:cNvPr id="61" name="Text 20"/>
            <p:cNvSpPr/>
            <p:nvPr/>
          </p:nvSpPr>
          <p:spPr>
            <a:xfrm>
              <a:off x="3538728" y="2825496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Use only ECI public data — no opinion polls or news</a:t>
              </a:r>
              <a:endParaRPr lang="en-US" sz="1050" dirty="0"/>
            </a:p>
          </p:txBody>
        </p:sp>
        <p:sp>
          <p:nvSpPr>
            <p:cNvPr id="62" name="Text 22"/>
            <p:cNvSpPr/>
            <p:nvPr/>
          </p:nvSpPr>
          <p:spPr>
            <a:xfrm>
              <a:off x="3538728" y="3483864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Stay strictly neutral — no party praise or criticism</a:t>
              </a:r>
              <a:endParaRPr lang="en-US" sz="1050" dirty="0"/>
            </a:p>
          </p:txBody>
        </p:sp>
        <p:sp>
          <p:nvSpPr>
            <p:cNvPr id="63" name="Text 24"/>
            <p:cNvSpPr/>
            <p:nvPr/>
          </p:nvSpPr>
          <p:spPr>
            <a:xfrm>
              <a:off x="3538728" y="4142232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No predictions — only what the data shows</a:t>
              </a:r>
              <a:endParaRPr lang="en-US" sz="1050" dirty="0"/>
            </a:p>
          </p:txBody>
        </p:sp>
        <p:sp>
          <p:nvSpPr>
            <p:cNvPr id="64" name="Shape 25"/>
            <p:cNvSpPr/>
            <p:nvPr/>
          </p:nvSpPr>
          <p:spPr>
            <a:xfrm>
              <a:off x="6163056" y="2331720"/>
              <a:ext cx="2788920" cy="2514600"/>
            </a:xfrm>
            <a:prstGeom prst="rect">
              <a:avLst/>
            </a:prstGeom>
            <a:noFill/>
            <a:ln w="12700">
              <a:solidFill>
                <a:srgbClr val="3FB950"/>
              </a:solidFill>
              <a:prstDash val="solid"/>
            </a:ln>
            <a:effectLst>
              <a:outerShdw blurRad="127000" dist="381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65" name="Shape 26"/>
            <p:cNvSpPr/>
            <p:nvPr/>
          </p:nvSpPr>
          <p:spPr>
            <a:xfrm>
              <a:off x="6163056" y="2331720"/>
              <a:ext cx="2788920" cy="64008"/>
            </a:xfrm>
            <a:prstGeom prst="rect">
              <a:avLst/>
            </a:prstGeom>
            <a:solidFill>
              <a:srgbClr val="3FB950"/>
            </a:solidFill>
            <a:ln w="12700">
              <a:solidFill>
                <a:srgbClr val="3FB950"/>
              </a:solidFill>
              <a:prstDash val="solid"/>
            </a:ln>
          </p:spPr>
        </p:sp>
        <p:sp>
          <p:nvSpPr>
            <p:cNvPr id="66" name="Text 27"/>
            <p:cNvSpPr/>
            <p:nvPr/>
          </p:nvSpPr>
          <p:spPr>
            <a:xfrm>
              <a:off x="6272784" y="2441448"/>
              <a:ext cx="2560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FB950"/>
                  </a:solidFill>
                </a:rPr>
                <a:t>My Approach</a:t>
              </a:r>
              <a:endParaRPr lang="en-US" sz="1200" dirty="0"/>
            </a:p>
          </p:txBody>
        </p:sp>
        <p:sp>
          <p:nvSpPr>
            <p:cNvPr id="67" name="Text 29"/>
            <p:cNvSpPr/>
            <p:nvPr/>
          </p:nvSpPr>
          <p:spPr>
            <a:xfrm>
              <a:off x="6483096" y="2825496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Selected 3 of 6 research questions — Flip, </a:t>
              </a:r>
              <a:r>
                <a:rPr lang="en-US" sz="1050" dirty="0" smtClean="0">
                  <a:solidFill>
                    <a:srgbClr val="8B949E"/>
                  </a:solidFill>
                </a:rPr>
                <a:t>geographic</a:t>
              </a:r>
              <a:r>
                <a:rPr lang="en-US" sz="1050" dirty="0" smtClean="0">
                  <a:solidFill>
                    <a:srgbClr val="8B949E"/>
                  </a:solidFill>
                </a:rPr>
                <a:t>, </a:t>
              </a:r>
              <a:r>
                <a:rPr lang="en-US" sz="1050" dirty="0">
                  <a:solidFill>
                    <a:srgbClr val="8B949E"/>
                  </a:solidFill>
                </a:rPr>
                <a:t>Margin</a:t>
              </a:r>
              <a:endParaRPr lang="en-US" sz="1050" dirty="0"/>
            </a:p>
          </p:txBody>
        </p:sp>
        <p:sp>
          <p:nvSpPr>
            <p:cNvPr id="68" name="Text 31"/>
            <p:cNvSpPr/>
            <p:nvPr/>
          </p:nvSpPr>
          <p:spPr>
            <a:xfrm>
              <a:off x="6483096" y="3483864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Connected all 3 into one single coherent story</a:t>
              </a:r>
              <a:endParaRPr lang="en-US" sz="1050" dirty="0"/>
            </a:p>
          </p:txBody>
        </p:sp>
        <p:sp>
          <p:nvSpPr>
            <p:cNvPr id="69" name="Text 33"/>
            <p:cNvSpPr/>
            <p:nvPr/>
          </p:nvSpPr>
          <p:spPr>
            <a:xfrm>
              <a:off x="6483096" y="4142232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8B949E"/>
                  </a:solidFill>
                </a:rPr>
                <a:t>Built a 4-page Power BI dashboard as evidence</a:t>
              </a:r>
              <a:endParaRPr lang="en-US" sz="1050" dirty="0"/>
            </a:p>
          </p:txBody>
        </p:sp>
      </p:grpSp>
      <p:sp>
        <p:nvSpPr>
          <p:cNvPr id="71" name="Shape 7"/>
          <p:cNvSpPr/>
          <p:nvPr/>
        </p:nvSpPr>
        <p:spPr>
          <a:xfrm>
            <a:off x="1139028" y="2547695"/>
            <a:ext cx="2788920" cy="3007753"/>
          </a:xfrm>
          <a:prstGeom prst="rect">
            <a:avLst/>
          </a:prstGeom>
          <a:noFill/>
          <a:ln w="12700">
            <a:solidFill>
              <a:srgbClr val="F5A623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68738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722" y="568295"/>
            <a:ext cx="9144000" cy="868807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The 2026 Result at a </a:t>
            </a:r>
            <a:r>
              <a:rPr lang="en-US" sz="3200" b="1" dirty="0" smtClean="0">
                <a:solidFill>
                  <a:srgbClr val="FFFFFF"/>
                </a:solidFill>
              </a:rPr>
              <a:t>Glance</a:t>
            </a:r>
            <a:endParaRPr lang="en-IN" sz="3200" b="1" dirty="0"/>
          </a:p>
        </p:txBody>
      </p:sp>
      <p:sp>
        <p:nvSpPr>
          <p:cNvPr id="4" name="Text 0"/>
          <p:cNvSpPr/>
          <p:nvPr/>
        </p:nvSpPr>
        <p:spPr>
          <a:xfrm>
            <a:off x="750321" y="339695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F5A623"/>
                </a:solidFill>
              </a:rPr>
              <a:t>OVERVIEW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94161" y="1382540"/>
            <a:ext cx="77282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A first-time party emerges as the largest force while Tamil Nadu witnesses one of its biggest electoral shifts in recent history.</a:t>
            </a:r>
          </a:p>
          <a:p>
            <a:endParaRPr lang="en-US" i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TVK wins 108 seats on debut — 163 of 234 constituencies change hands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2734" y="2865303"/>
            <a:ext cx="2187723" cy="1281869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3273610" y="2895213"/>
            <a:ext cx="2211646" cy="122204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DMK</a:t>
            </a:r>
          </a:p>
          <a:p>
            <a:pPr algn="ctr"/>
            <a:r>
              <a:rPr lang="en-US" sz="2000" b="1" dirty="0" smtClean="0">
                <a:solidFill>
                  <a:srgbClr val="C00000"/>
                </a:solidFill>
              </a:rPr>
              <a:t>59</a:t>
            </a:r>
            <a:r>
              <a:rPr lang="en-US" dirty="0" smtClean="0">
                <a:solidFill>
                  <a:srgbClr val="C00000"/>
                </a:solidFill>
              </a:rPr>
              <a:t/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Seats won in 2026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▼ 74 </a:t>
            </a:r>
            <a:r>
              <a:rPr lang="en-US" dirty="0" err="1" smtClean="0">
                <a:solidFill>
                  <a:srgbClr val="C00000"/>
                </a:solidFill>
              </a:rPr>
              <a:t>vs</a:t>
            </a:r>
            <a:r>
              <a:rPr lang="en-US" dirty="0" smtClean="0">
                <a:solidFill>
                  <a:srgbClr val="C00000"/>
                </a:solidFill>
              </a:rPr>
              <a:t> 2021 (133)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285995" y="2869833"/>
            <a:ext cx="2567164" cy="122204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0B0F0"/>
                </a:solidFill>
              </a:rPr>
              <a:t>FLIPPED</a:t>
            </a:r>
          </a:p>
          <a:p>
            <a:pPr algn="ctr"/>
            <a:r>
              <a:rPr lang="en-US" b="1" dirty="0" smtClean="0">
                <a:solidFill>
                  <a:srgbClr val="00B0F0"/>
                </a:solidFill>
              </a:rPr>
              <a:t>163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400" dirty="0" smtClean="0">
                <a:solidFill>
                  <a:srgbClr val="FFC000"/>
                </a:solidFill>
              </a:rPr>
              <a:t>Constituencies changed winner</a:t>
            </a:r>
          </a:p>
          <a:p>
            <a:pPr algn="ctr"/>
            <a:r>
              <a:rPr lang="en-US" sz="1400" dirty="0" smtClean="0">
                <a:solidFill>
                  <a:srgbClr val="FFC000"/>
                </a:solidFill>
              </a:rPr>
              <a:t>▲ 69.7% of all seats</a:t>
            </a:r>
            <a:endParaRPr lang="en-US" sz="1400" dirty="0">
              <a:solidFill>
                <a:srgbClr val="FFC0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768408" y="2895213"/>
            <a:ext cx="2234435" cy="122204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AIADMK</a:t>
            </a:r>
          </a:p>
          <a:p>
            <a:pPr algn="ctr"/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47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Seats won in 2026</a:t>
            </a:r>
          </a:p>
          <a:p>
            <a:pPr algn="ctr"/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▼ 19 </a:t>
            </a:r>
            <a:r>
              <a:rPr lang="en-US" dirty="0" err="1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vs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2021 (66)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0322" y="2926859"/>
            <a:ext cx="224013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TVK</a:t>
            </a:r>
          </a:p>
          <a:p>
            <a:pPr algn="ctr"/>
            <a:r>
              <a:rPr lang="en-US" sz="1600" b="1" dirty="0" smtClean="0">
                <a:solidFill>
                  <a:schemeClr val="accent6"/>
                </a:solidFill>
              </a:rPr>
              <a:t>108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Seats won in 2026</a:t>
            </a:r>
          </a:p>
          <a:p>
            <a:r>
              <a:rPr lang="en-US" sz="1400" dirty="0" smtClean="0">
                <a:solidFill>
                  <a:srgbClr val="FFC000"/>
                </a:solidFill>
              </a:rPr>
              <a:t>▲</a:t>
            </a:r>
            <a:r>
              <a:rPr lang="en-US" sz="1400" b="1" dirty="0" smtClean="0">
                <a:solidFill>
                  <a:srgbClr val="FFC000"/>
                </a:solidFill>
              </a:rPr>
              <a:t> Largest party in 2026</a:t>
            </a:r>
            <a:endParaRPr lang="en-US" sz="1400" b="1" dirty="0">
              <a:solidFill>
                <a:srgbClr val="FFC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2734" y="4378845"/>
            <a:ext cx="10102838" cy="2246769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b="1" u="sng" dirty="0" smtClean="0">
                <a:solidFill>
                  <a:schemeClr val="accent2">
                    <a:lumMod val="75000"/>
                  </a:schemeClr>
                </a:solidFill>
              </a:rPr>
              <a:t>SEAT SHARE 2026</a:t>
            </a:r>
          </a:p>
          <a:p>
            <a:r>
              <a:rPr lang="en-US" sz="1600" b="1" dirty="0" smtClean="0"/>
              <a:t>Three parties account for 91.45% of all seats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accent6"/>
                </a:solidFill>
              </a:rPr>
              <a:t>TVK</a:t>
            </a:r>
            <a:r>
              <a:rPr lang="en-US" sz="1600" b="1" dirty="0" smtClean="0"/>
              <a:t> — </a:t>
            </a:r>
            <a:r>
              <a:rPr lang="en-US" sz="16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46.15%</a:t>
            </a:r>
            <a:r>
              <a:rPr lang="en-US" sz="1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(108)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accent2">
                    <a:lumMod val="75000"/>
                  </a:schemeClr>
                </a:solidFill>
              </a:rPr>
              <a:t>DMK</a:t>
            </a:r>
            <a:r>
              <a:rPr lang="en-US" sz="1600" b="1" dirty="0" smtClean="0"/>
              <a:t> — </a:t>
            </a:r>
            <a:r>
              <a:rPr lang="en-US" sz="16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25.21%</a:t>
            </a:r>
            <a:r>
              <a:rPr lang="en-US" sz="1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(59)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AIADMK</a:t>
            </a:r>
            <a:r>
              <a:rPr lang="en-US" sz="1600" b="1" dirty="0" smtClean="0"/>
              <a:t> — </a:t>
            </a:r>
            <a:r>
              <a:rPr lang="en-US" sz="16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20.09%</a:t>
            </a:r>
            <a:r>
              <a:rPr lang="en-US" sz="1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(47)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</a:rPr>
              <a:t>Others</a:t>
            </a:r>
            <a:r>
              <a:rPr lang="en-US" sz="1600" b="1" dirty="0" smtClean="0"/>
              <a:t> — </a:t>
            </a:r>
            <a:r>
              <a:rPr lang="en-US" sz="16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8.55%</a:t>
            </a:r>
            <a:r>
              <a:rPr lang="en-US" sz="16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(20)</a:t>
            </a:r>
          </a:p>
          <a:p>
            <a:endParaRPr lang="en-US" sz="1600" dirty="0"/>
          </a:p>
          <a:p>
            <a:r>
              <a:rPr lang="en-US" sz="1400" dirty="0" smtClean="0">
                <a:solidFill>
                  <a:schemeClr val="accent3">
                    <a:lumMod val="75000"/>
                  </a:schemeClr>
                </a:solidFill>
              </a:rPr>
              <a:t>The election was defined by three connected stories: a new entrant becoming the largest party, widespread constituency-level seat flips, and increasingly competitive contests across the state. Together, these trends reshaped Tamil Nadu's electoral landscape in 2026.</a:t>
            </a:r>
            <a:endParaRPr lang="en-US" sz="14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21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3841" y="0"/>
            <a:ext cx="3772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spc="300" dirty="0" smtClean="0">
                <a:solidFill>
                  <a:srgbClr val="3FB950"/>
                </a:solidFill>
              </a:rPr>
              <a:t>STORY 1  ·  THE Geographic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0430" y="528127"/>
            <a:ext cx="99302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TVK emerged as the leading party in </a:t>
            </a:r>
            <a:r>
              <a:rPr lang="en-US" sz="1600" b="1" dirty="0" smtClean="0"/>
              <a:t>4 of 6 editorial regions</a:t>
            </a:r>
            <a:r>
              <a:rPr lang="en-US" sz="1600" dirty="0" smtClean="0"/>
              <a:t>, replacing the 2021 regional dominance pattern.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1669" y="86798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chemeClr val="accent6"/>
                </a:solidFill>
              </a:rPr>
              <a:t>TVK</a:t>
            </a:r>
            <a:r>
              <a:rPr lang="en-US" b="1" dirty="0" smtClean="0"/>
              <a:t> - led regions (2026): 4</a:t>
            </a:r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C00000"/>
                </a:solidFill>
              </a:rPr>
              <a:t>DMK</a:t>
            </a:r>
            <a:r>
              <a:rPr lang="en-US" b="1" dirty="0" smtClean="0"/>
              <a:t>-led regions (2021): 5</a:t>
            </a:r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C00000"/>
                </a:solidFill>
              </a:rPr>
              <a:t>DMK</a:t>
            </a:r>
            <a:r>
              <a:rPr lang="en-US" b="1" dirty="0" smtClean="0"/>
              <a:t> retained only Delta</a:t>
            </a:r>
            <a:r>
              <a:rPr lang="en-US" dirty="0" smtClean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00B0F0"/>
                </a:solidFill>
              </a:rPr>
              <a:t>AIADMK</a:t>
            </a:r>
            <a:r>
              <a:rPr lang="en-US" b="1" dirty="0" smtClean="0"/>
              <a:t> retained Central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5888" y="2406863"/>
            <a:ext cx="3668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Regional </a:t>
            </a:r>
            <a:r>
              <a:rPr lang="en-US" b="1" u="sng" dirty="0">
                <a:solidFill>
                  <a:schemeClr val="bg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Swing Summary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430" y="5845323"/>
            <a:ext cx="10287307" cy="76912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FFC000"/>
                </a:solidFill>
              </a:rPr>
              <a:t>Regional leadership changed in four regions, highlighting one of the largest geographic shifts seen in recent Tamil Nadu elections.</a:t>
            </a:r>
            <a:endParaRPr lang="en-IN" b="1" dirty="0">
              <a:solidFill>
                <a:srgbClr val="FFC000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580622"/>
              </p:ext>
            </p:extLst>
          </p:nvPr>
        </p:nvGraphicFramePr>
        <p:xfrm>
          <a:off x="545031" y="2881751"/>
          <a:ext cx="6958176" cy="2795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392"/>
                <a:gridCol w="2319392"/>
                <a:gridCol w="2319392"/>
              </a:tblGrid>
              <a:tr h="399419">
                <a:tc>
                  <a:txBody>
                    <a:bodyPr/>
                    <a:lstStyle/>
                    <a:p>
                      <a:r>
                        <a:rPr lang="en-IN" dirty="0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2021 Leader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2026 Leader</a:t>
                      </a:r>
                    </a:p>
                  </a:txBody>
                  <a:tcPr anchor="ctr"/>
                </a:tc>
              </a:tr>
              <a:tr h="399419">
                <a:tc>
                  <a:txBody>
                    <a:bodyPr/>
                    <a:lstStyle/>
                    <a:p>
                      <a:r>
                        <a:rPr lang="en-IN" dirty="0"/>
                        <a:t>Chennai Metro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DMK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TVK</a:t>
                      </a:r>
                    </a:p>
                  </a:txBody>
                  <a:tcPr anchor="ctr"/>
                </a:tc>
              </a:tr>
              <a:tr h="399419">
                <a:tc>
                  <a:txBody>
                    <a:bodyPr/>
                    <a:lstStyle/>
                    <a:p>
                      <a:r>
                        <a:rPr lang="en-IN" dirty="0" err="1"/>
                        <a:t>Kongu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AIADMK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TVK</a:t>
                      </a:r>
                    </a:p>
                  </a:txBody>
                  <a:tcPr anchor="ctr"/>
                </a:tc>
              </a:tr>
              <a:tr h="399419">
                <a:tc>
                  <a:txBody>
                    <a:bodyPr/>
                    <a:lstStyle/>
                    <a:p>
                      <a:r>
                        <a:rPr lang="en-IN" dirty="0"/>
                        <a:t>North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DMK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TVK</a:t>
                      </a:r>
                    </a:p>
                  </a:txBody>
                  <a:tcPr anchor="ctr"/>
                </a:tc>
              </a:tr>
              <a:tr h="399419">
                <a:tc>
                  <a:txBody>
                    <a:bodyPr/>
                    <a:lstStyle/>
                    <a:p>
                      <a:r>
                        <a:rPr lang="en-IN" dirty="0"/>
                        <a:t>South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DMK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TVK</a:t>
                      </a:r>
                    </a:p>
                  </a:txBody>
                  <a:tcPr anchor="ctr"/>
                </a:tc>
              </a:tr>
              <a:tr h="399419">
                <a:tc>
                  <a:txBody>
                    <a:bodyPr/>
                    <a:lstStyle/>
                    <a:p>
                      <a:r>
                        <a:rPr lang="en-IN" dirty="0"/>
                        <a:t>Central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DMK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AIADMK</a:t>
                      </a:r>
                    </a:p>
                  </a:txBody>
                  <a:tcPr anchor="ctr"/>
                </a:tc>
              </a:tr>
              <a:tr h="399419">
                <a:tc>
                  <a:txBody>
                    <a:bodyPr/>
                    <a:lstStyle/>
                    <a:p>
                      <a:r>
                        <a:rPr lang="en-IN" dirty="0"/>
                        <a:t>Delta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DMK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DMK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47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9486" y="475496"/>
            <a:ext cx="68790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000" b="1" dirty="0" smtClean="0"/>
              <a:t>Chennai Metro delivered TVK's strongest regional performance</a:t>
            </a:r>
            <a:endParaRPr lang="en-IN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283841" y="0"/>
            <a:ext cx="3772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 spc="300" dirty="0" smtClean="0">
                <a:solidFill>
                  <a:srgbClr val="3FB950"/>
                </a:solidFill>
              </a:rPr>
              <a:t>STORY 1  ·  THE Geographic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9486" y="1200122"/>
            <a:ext cx="8896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TVK won </a:t>
            </a:r>
            <a:r>
              <a:rPr lang="en-US" b="1" dirty="0" smtClean="0"/>
              <a:t>29 of 32 seats</a:t>
            </a:r>
            <a:r>
              <a:rPr lang="en-US" dirty="0" smtClean="0"/>
              <a:t> in Chennai Metro, recording the highest regional dominance in the state.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415753" y="1924748"/>
            <a:ext cx="4694490" cy="147732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Chennai Metro → TVK 29 seats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South → TVK 26 seats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 smtClean="0"/>
              <a:t>Kongu</a:t>
            </a:r>
            <a:r>
              <a:rPr lang="en-IN" dirty="0" smtClean="0"/>
              <a:t> → TVK 16 seats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Delta remained DMK's strongest region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/>
              <a:t>Central remained AIADMK's strongest region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6791058" y="1924748"/>
            <a:ext cx="4139013" cy="147732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65000"/>
                  </a:schemeClr>
                </a:solidFill>
              </a:rPr>
              <a:t>Key Statistics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Chennai Metro Flip Rate: </a:t>
            </a: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93.75%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Kongu</a:t>
            </a:r>
            <a:r>
              <a:rPr lang="en-US" dirty="0" smtClean="0"/>
              <a:t> Flip Rate: </a:t>
            </a: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81.82%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North Flip Rate: </a:t>
            </a: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72.97%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South Flip Rate: </a:t>
            </a:r>
            <a:r>
              <a:rPr lang="en-US" b="1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65.52%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9719" y="4591036"/>
            <a:ext cx="10702183" cy="64633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smtClean="0"/>
              <a:t>Chennai Metro recorded the highest level of electoral change, with nearly every constituency switching to TVK, making it the most decisive region of the 2026 election.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76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33713" y="228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FB950"/>
                </a:solidFill>
              </a:rPr>
              <a:t>STORY </a:t>
            </a:r>
            <a:r>
              <a:rPr lang="en-US" sz="1400" b="1" kern="0" spc="300" dirty="0" smtClean="0">
                <a:solidFill>
                  <a:srgbClr val="3FB950"/>
                </a:solidFill>
              </a:rPr>
              <a:t>2  </a:t>
            </a:r>
            <a:r>
              <a:rPr lang="en-US" sz="1400" b="1" kern="0" spc="300" dirty="0">
                <a:solidFill>
                  <a:srgbClr val="3FB950"/>
                </a:solidFill>
              </a:rPr>
              <a:t>·  THE FLIP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880217" y="587225"/>
            <a:ext cx="873380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a 2-Party Contest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to a 3-Way Battle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972511" y="187165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</a:rPr>
              <a:t>163 constituencies switched their winning party. The biggest single flow: 65 seats went from DMK in 2021 to TVK in 2026.</a:t>
            </a:r>
            <a:endParaRPr lang="en-US" sz="1600" dirty="0"/>
          </a:p>
        </p:txBody>
      </p:sp>
      <p:grpSp>
        <p:nvGrpSpPr>
          <p:cNvPr id="35" name="Group 34"/>
          <p:cNvGrpSpPr/>
          <p:nvPr/>
        </p:nvGrpSpPr>
        <p:grpSpPr>
          <a:xfrm>
            <a:off x="4182739" y="2747024"/>
            <a:ext cx="2651760" cy="1371600"/>
            <a:chOff x="3200400" y="1965960"/>
            <a:chExt cx="2651760" cy="1371600"/>
          </a:xfrm>
        </p:grpSpPr>
        <p:sp>
          <p:nvSpPr>
            <p:cNvPr id="11" name="Shape 7"/>
            <p:cNvSpPr/>
            <p:nvPr/>
          </p:nvSpPr>
          <p:spPr>
            <a:xfrm>
              <a:off x="3200400" y="1965960"/>
              <a:ext cx="2651760" cy="137160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F5A623"/>
              </a:solidFill>
              <a:prstDash val="solid"/>
            </a:ln>
            <a:effectLst>
              <a:outerShdw blurRad="127000" dist="38100" dir="8100000" algn="bl" rotWithShape="0">
                <a:srgbClr val="000000">
                  <a:alpha val="30000"/>
                </a:srgbClr>
              </a:outerShdw>
            </a:effectLst>
          </p:spPr>
        </p:sp>
        <p:sp>
          <p:nvSpPr>
            <p:cNvPr id="12" name="Text 8"/>
            <p:cNvSpPr/>
            <p:nvPr/>
          </p:nvSpPr>
          <p:spPr>
            <a:xfrm>
              <a:off x="3200400" y="2057400"/>
              <a:ext cx="26517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200" b="1" dirty="0">
                  <a:solidFill>
                    <a:srgbClr val="F5A623"/>
                  </a:solidFill>
                </a:rPr>
                <a:t>15</a:t>
              </a:r>
              <a:endParaRPr lang="en-US" sz="42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3200400" y="2770632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B949E"/>
                  </a:solidFill>
                </a:rPr>
                <a:t>AIADMK 2021 seats</a:t>
              </a:r>
              <a:endParaRPr lang="en-US" sz="11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3200400" y="3017520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5A623"/>
                  </a:solidFill>
                </a:rPr>
                <a:t>won by DMK 2026</a:t>
              </a:r>
              <a:endParaRPr lang="en-US" sz="10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275032" y="2747772"/>
            <a:ext cx="8503920" cy="1371600"/>
            <a:chOff x="274320" y="1965960"/>
            <a:chExt cx="8503920" cy="1371600"/>
          </a:xfrm>
        </p:grpSpPr>
        <p:grpSp>
          <p:nvGrpSpPr>
            <p:cNvPr id="34" name="Group 33"/>
            <p:cNvGrpSpPr/>
            <p:nvPr/>
          </p:nvGrpSpPr>
          <p:grpSpPr>
            <a:xfrm>
              <a:off x="274320" y="1965960"/>
              <a:ext cx="8503920" cy="1371600"/>
              <a:chOff x="274320" y="1965960"/>
              <a:chExt cx="8503920" cy="1371600"/>
            </a:xfrm>
          </p:grpSpPr>
          <p:sp>
            <p:nvSpPr>
              <p:cNvPr id="7" name="Shape 3"/>
              <p:cNvSpPr/>
              <p:nvPr/>
            </p:nvSpPr>
            <p:spPr>
              <a:xfrm>
                <a:off x="274320" y="1965960"/>
                <a:ext cx="2651760" cy="1371600"/>
              </a:xfrm>
              <a:prstGeom prst="rect">
                <a:avLst/>
              </a:prstGeom>
              <a:solidFill>
                <a:srgbClr val="161B22"/>
              </a:solidFill>
              <a:ln w="19050">
                <a:solidFill>
                  <a:srgbClr val="3FB950"/>
                </a:solidFill>
                <a:prstDash val="solid"/>
              </a:ln>
              <a:effectLst>
                <a:outerShdw blurRad="127000" dist="38100" dir="8100000" algn="bl" rotWithShape="0">
                  <a:srgbClr val="000000">
                    <a:alpha val="30000"/>
                  </a:srgbClr>
                </a:outerShdw>
              </a:effectLst>
            </p:spPr>
          </p:sp>
          <p:sp>
            <p:nvSpPr>
              <p:cNvPr id="8" name="Text 4"/>
              <p:cNvSpPr/>
              <p:nvPr/>
            </p:nvSpPr>
            <p:spPr>
              <a:xfrm>
                <a:off x="274320" y="2057400"/>
                <a:ext cx="2651760" cy="7315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4200" b="1" dirty="0">
                    <a:solidFill>
                      <a:srgbClr val="3FB950"/>
                    </a:solidFill>
                  </a:rPr>
                  <a:t>65</a:t>
                </a:r>
                <a:endParaRPr lang="en-US" sz="4200" dirty="0"/>
              </a:p>
            </p:txBody>
          </p:sp>
          <p:sp>
            <p:nvSpPr>
              <p:cNvPr id="9" name="Text 5"/>
              <p:cNvSpPr/>
              <p:nvPr/>
            </p:nvSpPr>
            <p:spPr>
              <a:xfrm>
                <a:off x="274320" y="2770632"/>
                <a:ext cx="2651760" cy="25603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8B949E"/>
                    </a:solidFill>
                  </a:rPr>
                  <a:t>seats flipped</a:t>
                </a:r>
                <a:endParaRPr lang="en-US" sz="1100" dirty="0"/>
              </a:p>
            </p:txBody>
          </p:sp>
          <p:sp>
            <p:nvSpPr>
              <p:cNvPr id="10" name="Text 6"/>
              <p:cNvSpPr/>
              <p:nvPr/>
            </p:nvSpPr>
            <p:spPr>
              <a:xfrm>
                <a:off x="274320" y="3017520"/>
                <a:ext cx="2651760" cy="228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dirty="0">
                    <a:solidFill>
                      <a:srgbClr val="3FB950"/>
                    </a:solidFill>
                  </a:rPr>
                  <a:t>DMK 2021 → TVK 2026</a:t>
                </a:r>
                <a:endParaRPr lang="en-US" sz="1000" dirty="0"/>
              </a:p>
            </p:txBody>
          </p:sp>
          <p:sp>
            <p:nvSpPr>
              <p:cNvPr id="15" name="Shape 11"/>
              <p:cNvSpPr/>
              <p:nvPr/>
            </p:nvSpPr>
            <p:spPr>
              <a:xfrm>
                <a:off x="6126480" y="1965960"/>
                <a:ext cx="2651760" cy="1371600"/>
              </a:xfrm>
              <a:prstGeom prst="rect">
                <a:avLst/>
              </a:prstGeom>
              <a:solidFill>
                <a:srgbClr val="161B22"/>
              </a:solidFill>
              <a:ln w="19050">
                <a:solidFill>
                  <a:srgbClr val="F5A623"/>
                </a:solidFill>
                <a:prstDash val="solid"/>
              </a:ln>
              <a:effectLst>
                <a:outerShdw blurRad="127000" dist="38100" dir="8100000" algn="bl" rotWithShape="0">
                  <a:srgbClr val="000000">
                    <a:alpha val="30000"/>
                  </a:srgbClr>
                </a:outerShdw>
              </a:effectLst>
            </p:spPr>
          </p:sp>
        </p:grpSp>
        <p:sp>
          <p:nvSpPr>
            <p:cNvPr id="16" name="Text 12"/>
            <p:cNvSpPr/>
            <p:nvPr/>
          </p:nvSpPr>
          <p:spPr>
            <a:xfrm>
              <a:off x="6126480" y="2057400"/>
              <a:ext cx="265176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4200" b="1" dirty="0">
                  <a:solidFill>
                    <a:srgbClr val="F5A623"/>
                  </a:solidFill>
                </a:rPr>
                <a:t>163</a:t>
              </a:r>
              <a:endParaRPr lang="en-US" sz="4200" dirty="0"/>
            </a:p>
          </p:txBody>
        </p:sp>
        <p:sp>
          <p:nvSpPr>
            <p:cNvPr id="17" name="Text 13"/>
            <p:cNvSpPr/>
            <p:nvPr/>
          </p:nvSpPr>
          <p:spPr>
            <a:xfrm>
              <a:off x="6126480" y="2770632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B949E"/>
                  </a:solidFill>
                </a:rPr>
                <a:t>total flips</a:t>
              </a:r>
              <a:endParaRPr lang="en-US" sz="1100" dirty="0"/>
            </a:p>
          </p:txBody>
        </p:sp>
        <p:sp>
          <p:nvSpPr>
            <p:cNvPr id="18" name="Text 14"/>
            <p:cNvSpPr/>
            <p:nvPr/>
          </p:nvSpPr>
          <p:spPr>
            <a:xfrm>
              <a:off x="6126480" y="3017520"/>
              <a:ext cx="265176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5A623"/>
                  </a:solidFill>
                </a:rPr>
                <a:t>of 234 constituencies</a:t>
              </a:r>
              <a:endParaRPr lang="en-US" sz="10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293833" y="4584006"/>
            <a:ext cx="8595360" cy="1371600"/>
            <a:chOff x="1339553" y="5267670"/>
            <a:chExt cx="8595360" cy="1371600"/>
          </a:xfrm>
        </p:grpSpPr>
        <p:sp>
          <p:nvSpPr>
            <p:cNvPr id="19" name="Shape 15"/>
            <p:cNvSpPr/>
            <p:nvPr/>
          </p:nvSpPr>
          <p:spPr>
            <a:xfrm>
              <a:off x="1339553" y="5267670"/>
              <a:ext cx="8595360" cy="137160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21262D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1463040" y="5326380"/>
              <a:ext cx="73152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F5A623"/>
                  </a:solidFill>
                </a:rPr>
                <a:t>SEAT FLOW: WHERE DID 2021 WINNERS GO IN 2026?</a:t>
              </a:r>
              <a:endParaRPr lang="en-US" sz="900" dirty="0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1403561" y="5708505"/>
              <a:ext cx="8531352" cy="804672"/>
              <a:chOff x="502920" y="3858768"/>
              <a:chExt cx="8531352" cy="804672"/>
            </a:xfrm>
          </p:grpSpPr>
          <p:sp>
            <p:nvSpPr>
              <p:cNvPr id="21" name="Text 17"/>
              <p:cNvSpPr/>
              <p:nvPr/>
            </p:nvSpPr>
            <p:spPr>
              <a:xfrm>
                <a:off x="502920" y="3858768"/>
                <a:ext cx="731520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FFFFFF"/>
                    </a:solidFill>
                  </a:rPr>
                  <a:t>TVK absorbed seats from both major parties</a:t>
                </a:r>
                <a:endParaRPr lang="en-US" sz="1400" dirty="0"/>
              </a:p>
            </p:txBody>
          </p:sp>
          <p:sp>
            <p:nvSpPr>
              <p:cNvPr id="22" name="Shape 18"/>
              <p:cNvSpPr/>
              <p:nvPr/>
            </p:nvSpPr>
            <p:spPr>
              <a:xfrm>
                <a:off x="502920" y="4251960"/>
                <a:ext cx="109728" cy="411480"/>
              </a:xfrm>
              <a:prstGeom prst="rect">
                <a:avLst/>
              </a:prstGeom>
              <a:solidFill>
                <a:srgbClr val="3FB950"/>
              </a:solidFill>
              <a:ln w="12700">
                <a:solidFill>
                  <a:srgbClr val="3FB950"/>
                </a:solidFill>
                <a:prstDash val="solid"/>
              </a:ln>
            </p:spPr>
          </p:sp>
          <p:sp>
            <p:nvSpPr>
              <p:cNvPr id="23" name="Text 19"/>
              <p:cNvSpPr/>
              <p:nvPr/>
            </p:nvSpPr>
            <p:spPr>
              <a:xfrm>
                <a:off x="667512" y="4251960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8B949E"/>
                    </a:solidFill>
                  </a:rPr>
                  <a:t>DMK (133) → TVK (108)</a:t>
                </a:r>
                <a:endParaRPr lang="en-US" sz="950" dirty="0"/>
              </a:p>
            </p:txBody>
          </p:sp>
          <p:sp>
            <p:nvSpPr>
              <p:cNvPr id="24" name="Text 20"/>
              <p:cNvSpPr/>
              <p:nvPr/>
            </p:nvSpPr>
            <p:spPr>
              <a:xfrm>
                <a:off x="667512" y="4453128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3FB950"/>
                    </a:solidFill>
                  </a:rPr>
                  <a:t>65 seats</a:t>
                </a:r>
                <a:endParaRPr lang="en-US" sz="1000" dirty="0"/>
              </a:p>
            </p:txBody>
          </p:sp>
          <p:sp>
            <p:nvSpPr>
              <p:cNvPr id="25" name="Shape 21"/>
              <p:cNvSpPr/>
              <p:nvPr/>
            </p:nvSpPr>
            <p:spPr>
              <a:xfrm>
                <a:off x="2651760" y="4251960"/>
                <a:ext cx="109728" cy="411480"/>
              </a:xfrm>
              <a:prstGeom prst="rect">
                <a:avLst/>
              </a:prstGeom>
              <a:solidFill>
                <a:srgbClr val="F5A623"/>
              </a:solidFill>
              <a:ln w="12700">
                <a:solidFill>
                  <a:srgbClr val="F5A623"/>
                </a:solidFill>
                <a:prstDash val="solid"/>
              </a:ln>
            </p:spPr>
          </p:sp>
          <p:sp>
            <p:nvSpPr>
              <p:cNvPr id="26" name="Text 22"/>
              <p:cNvSpPr/>
              <p:nvPr/>
            </p:nvSpPr>
            <p:spPr>
              <a:xfrm>
                <a:off x="2816352" y="4251960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8B949E"/>
                    </a:solidFill>
                  </a:rPr>
                  <a:t>DMK (133) → DMK (59)</a:t>
                </a:r>
                <a:endParaRPr lang="en-US" sz="950" dirty="0"/>
              </a:p>
            </p:txBody>
          </p:sp>
          <p:sp>
            <p:nvSpPr>
              <p:cNvPr id="27" name="Text 23"/>
              <p:cNvSpPr/>
              <p:nvPr/>
            </p:nvSpPr>
            <p:spPr>
              <a:xfrm>
                <a:off x="2816352" y="4453128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5A623"/>
                    </a:solidFill>
                  </a:rPr>
                  <a:t>59 seats</a:t>
                </a:r>
                <a:endParaRPr lang="en-US" sz="1000" dirty="0"/>
              </a:p>
            </p:txBody>
          </p:sp>
          <p:sp>
            <p:nvSpPr>
              <p:cNvPr id="28" name="Shape 24"/>
              <p:cNvSpPr/>
              <p:nvPr/>
            </p:nvSpPr>
            <p:spPr>
              <a:xfrm>
                <a:off x="4800600" y="4251960"/>
                <a:ext cx="109728" cy="411480"/>
              </a:xfrm>
              <a:prstGeom prst="rect">
                <a:avLst/>
              </a:prstGeom>
              <a:solidFill>
                <a:srgbClr val="4D9DE0"/>
              </a:solidFill>
              <a:ln w="12700">
                <a:solidFill>
                  <a:srgbClr val="4D9DE0"/>
                </a:solidFill>
                <a:prstDash val="solid"/>
              </a:ln>
            </p:spPr>
          </p:sp>
          <p:sp>
            <p:nvSpPr>
              <p:cNvPr id="29" name="Text 25"/>
              <p:cNvSpPr/>
              <p:nvPr/>
            </p:nvSpPr>
            <p:spPr>
              <a:xfrm>
                <a:off x="4965192" y="4251960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8B949E"/>
                    </a:solidFill>
                  </a:rPr>
                  <a:t>AIADMK (66) → AIADMK (47)</a:t>
                </a:r>
                <a:endParaRPr lang="en-US" sz="950" dirty="0"/>
              </a:p>
            </p:txBody>
          </p:sp>
          <p:sp>
            <p:nvSpPr>
              <p:cNvPr id="30" name="Text 26"/>
              <p:cNvSpPr/>
              <p:nvPr/>
            </p:nvSpPr>
            <p:spPr>
              <a:xfrm>
                <a:off x="4965192" y="4453128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4D9DE0"/>
                    </a:solidFill>
                  </a:rPr>
                  <a:t>42 seats</a:t>
                </a:r>
                <a:endParaRPr lang="en-US" sz="1000" dirty="0"/>
              </a:p>
            </p:txBody>
          </p:sp>
          <p:sp>
            <p:nvSpPr>
              <p:cNvPr id="31" name="Shape 27"/>
              <p:cNvSpPr/>
              <p:nvPr/>
            </p:nvSpPr>
            <p:spPr>
              <a:xfrm>
                <a:off x="6949440" y="4251960"/>
                <a:ext cx="109728" cy="411480"/>
              </a:xfrm>
              <a:prstGeom prst="rect">
                <a:avLst/>
              </a:prstGeom>
              <a:solidFill>
                <a:srgbClr val="F5A623"/>
              </a:solidFill>
              <a:ln w="12700">
                <a:solidFill>
                  <a:srgbClr val="F5A623"/>
                </a:solidFill>
                <a:prstDash val="solid"/>
              </a:ln>
            </p:spPr>
          </p:sp>
          <p:sp>
            <p:nvSpPr>
              <p:cNvPr id="32" name="Text 28"/>
              <p:cNvSpPr/>
              <p:nvPr/>
            </p:nvSpPr>
            <p:spPr>
              <a:xfrm>
                <a:off x="7114032" y="4251960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950" dirty="0">
                    <a:solidFill>
                      <a:srgbClr val="8B949E"/>
                    </a:solidFill>
                  </a:rPr>
                  <a:t>AIADMK (66) → DMK (59)</a:t>
                </a:r>
                <a:endParaRPr lang="en-US" sz="950" dirty="0"/>
              </a:p>
            </p:txBody>
          </p:sp>
          <p:sp>
            <p:nvSpPr>
              <p:cNvPr id="33" name="Text 29"/>
              <p:cNvSpPr/>
              <p:nvPr/>
            </p:nvSpPr>
            <p:spPr>
              <a:xfrm>
                <a:off x="7114032" y="4453128"/>
                <a:ext cx="1920240" cy="20116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000" b="1" dirty="0">
                    <a:solidFill>
                      <a:srgbClr val="F5A623"/>
                    </a:solidFill>
                  </a:rPr>
                  <a:t>15 seats</a:t>
                </a:r>
                <a:endParaRPr lang="en-US" sz="1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308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65760" y="1600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3FB950"/>
                </a:solidFill>
              </a:rPr>
              <a:t>STORY </a:t>
            </a:r>
            <a:r>
              <a:rPr lang="en-US" sz="1600" b="1" kern="0" spc="300" dirty="0" smtClean="0">
                <a:solidFill>
                  <a:srgbClr val="3FB950"/>
                </a:solidFill>
              </a:rPr>
              <a:t>2  </a:t>
            </a:r>
            <a:r>
              <a:rPr lang="en-US" sz="1600" b="1" kern="0" spc="300" dirty="0">
                <a:solidFill>
                  <a:srgbClr val="3FB950"/>
                </a:solidFill>
              </a:rPr>
              <a:t>·  THE FLIP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Flip Breakdown by Party Pair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36576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</a:rPr>
              <a:t>The largest flows — every row is a story the data can read aloud</a:t>
            </a:r>
            <a:endParaRPr lang="en-US" sz="1600" dirty="0"/>
          </a:p>
        </p:txBody>
      </p:sp>
      <p:sp>
        <p:nvSpPr>
          <p:cNvPr id="72" name="Shape 68"/>
          <p:cNvSpPr/>
          <p:nvPr/>
        </p:nvSpPr>
        <p:spPr>
          <a:xfrm>
            <a:off x="365760" y="5674493"/>
            <a:ext cx="8595360" cy="320040"/>
          </a:xfrm>
          <a:prstGeom prst="rect">
            <a:avLst/>
          </a:prstGeom>
          <a:solidFill>
            <a:srgbClr val="1E2A1E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365760" y="5715641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</a:rPr>
              <a:t>KEY INSIGHT:  TVK was the destination in 5 of the top 6 flip flows — absorbing from both DMK and AIADMK simultaneously.</a:t>
            </a:r>
            <a:endParaRPr lang="en-US" sz="1050" dirty="0"/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63" y="1406973"/>
            <a:ext cx="4657458" cy="374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5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48668" y="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</a:rPr>
              <a:t>STORY </a:t>
            </a:r>
            <a:r>
              <a:rPr lang="en-US" sz="900" b="1" kern="0" spc="300" dirty="0" smtClean="0">
                <a:solidFill>
                  <a:srgbClr val="F5A623"/>
                </a:solidFill>
              </a:rPr>
              <a:t>3  </a:t>
            </a:r>
            <a:r>
              <a:rPr lang="en-US" sz="900" b="1" kern="0" spc="300" dirty="0">
                <a:solidFill>
                  <a:srgbClr val="F5A623"/>
                </a:solidFill>
              </a:rPr>
              <a:t>·  </a:t>
            </a:r>
            <a:r>
              <a:rPr lang="en-US" sz="900" b="1" kern="0" spc="300" dirty="0" smtClean="0">
                <a:solidFill>
                  <a:srgbClr val="F5A623"/>
                </a:solidFill>
              </a:rPr>
              <a:t>The Margin story</a:t>
            </a:r>
            <a:endParaRPr lang="en-US" sz="900" dirty="0"/>
          </a:p>
        </p:txBody>
      </p:sp>
      <p:sp>
        <p:nvSpPr>
          <p:cNvPr id="5" name="Rectangle 4"/>
          <p:cNvSpPr/>
          <p:nvPr/>
        </p:nvSpPr>
        <p:spPr>
          <a:xfrm>
            <a:off x="415895" y="439547"/>
            <a:ext cx="91126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Winning margins shrank significantly in 2026, indicating a far more competitive electoral landscape.</a:t>
            </a:r>
            <a:endParaRPr lang="en-IN" sz="2000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5090" y="221619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Average Margin:  </a:t>
            </a:r>
            <a:r>
              <a:rPr lang="en-US" b="1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16.78K votes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Closest Margin:  </a:t>
            </a:r>
            <a:r>
              <a:rPr lang="en-US" b="1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 vote (</a:t>
            </a:r>
            <a:r>
              <a:rPr lang="en-US" b="1" i="1" dirty="0" err="1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Tiruppattur</a:t>
            </a:r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Photo-Finish Seats (&lt;5K margin):  </a:t>
            </a:r>
            <a:r>
              <a:rPr lang="en-US" b="1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61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Landslide Seats (&gt;30K margin):  </a:t>
            </a:r>
            <a:r>
              <a:rPr lang="en-US" i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37</a:t>
            </a:r>
            <a:endParaRPr lang="en-IN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58881" y="3848599"/>
            <a:ext cx="9912267" cy="1783080"/>
            <a:chOff x="274320" y="3703320"/>
            <a:chExt cx="8595360" cy="1271016"/>
          </a:xfrm>
        </p:grpSpPr>
        <p:sp>
          <p:nvSpPr>
            <p:cNvPr id="10" name="Shape 27"/>
            <p:cNvSpPr/>
            <p:nvPr/>
          </p:nvSpPr>
          <p:spPr>
            <a:xfrm>
              <a:off x="274320" y="3703320"/>
              <a:ext cx="8595360" cy="1188720"/>
            </a:xfrm>
            <a:prstGeom prst="rect">
              <a:avLst/>
            </a:prstGeom>
            <a:solidFill>
              <a:srgbClr val="161B22"/>
            </a:solidFill>
            <a:ln w="12700">
              <a:solidFill>
                <a:srgbClr val="21262D"/>
              </a:solidFill>
              <a:prstDash val="solid"/>
            </a:ln>
          </p:spPr>
        </p:sp>
        <p:sp>
          <p:nvSpPr>
            <p:cNvPr id="11" name="Text 28"/>
            <p:cNvSpPr/>
            <p:nvPr/>
          </p:nvSpPr>
          <p:spPr>
            <a:xfrm>
              <a:off x="457200" y="3767328"/>
              <a:ext cx="45720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kern="0" spc="200" dirty="0">
                  <a:solidFill>
                    <a:srgbClr val="F85149"/>
                  </a:solidFill>
                </a:rPr>
                <a:t>MARGIN DISTRIBUTION — 2021 VS 2026</a:t>
              </a:r>
              <a:endParaRPr lang="en-US" sz="900" dirty="0"/>
            </a:p>
          </p:txBody>
        </p:sp>
        <p:sp>
          <p:nvSpPr>
            <p:cNvPr id="12" name="Text 29"/>
            <p:cNvSpPr/>
            <p:nvPr/>
          </p:nvSpPr>
          <p:spPr>
            <a:xfrm>
              <a:off x="457200" y="4005072"/>
              <a:ext cx="5486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</a:rPr>
                <a:t>Races shifted left: more close wins, fewer landslides</a:t>
              </a:r>
              <a:endParaRPr lang="en-US" sz="1300" dirty="0"/>
            </a:p>
          </p:txBody>
        </p:sp>
        <p:sp>
          <p:nvSpPr>
            <p:cNvPr id="13" name="Shape 30"/>
            <p:cNvSpPr/>
            <p:nvPr/>
          </p:nvSpPr>
          <p:spPr>
            <a:xfrm>
              <a:off x="1097280" y="4631914"/>
              <a:ext cx="320040" cy="141254"/>
            </a:xfrm>
            <a:prstGeom prst="rect">
              <a:avLst/>
            </a:prstGeom>
            <a:solidFill>
              <a:srgbClr val="4A4F5A"/>
            </a:solidFill>
            <a:ln w="12700">
              <a:solidFill>
                <a:srgbClr val="4A4F5A"/>
              </a:solidFill>
              <a:prstDash val="solid"/>
            </a:ln>
          </p:spPr>
        </p:sp>
        <p:sp>
          <p:nvSpPr>
            <p:cNvPr id="14" name="Shape 31"/>
            <p:cNvSpPr/>
            <p:nvPr/>
          </p:nvSpPr>
          <p:spPr>
            <a:xfrm>
              <a:off x="1481328" y="4398537"/>
              <a:ext cx="320040" cy="374631"/>
            </a:xfrm>
            <a:prstGeom prst="rect">
              <a:avLst/>
            </a:prstGeom>
            <a:solidFill>
              <a:srgbClr val="F85149"/>
            </a:solidFill>
            <a:ln w="12700">
              <a:solidFill>
                <a:srgbClr val="F85149"/>
              </a:solidFill>
              <a:prstDash val="solid"/>
            </a:ln>
          </p:spPr>
        </p:sp>
        <p:sp>
          <p:nvSpPr>
            <p:cNvPr id="15" name="Text 32"/>
            <p:cNvSpPr/>
            <p:nvPr/>
          </p:nvSpPr>
          <p:spPr>
            <a:xfrm>
              <a:off x="1005840" y="4791456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</a:rPr>
                <a:t>0-5k</a:t>
              </a:r>
              <a:endParaRPr lang="en-US" sz="900" dirty="0"/>
            </a:p>
          </p:txBody>
        </p:sp>
        <p:sp>
          <p:nvSpPr>
            <p:cNvPr id="16" name="Shape 33"/>
            <p:cNvSpPr/>
            <p:nvPr/>
          </p:nvSpPr>
          <p:spPr>
            <a:xfrm>
              <a:off x="2670048" y="4619631"/>
              <a:ext cx="320040" cy="153537"/>
            </a:xfrm>
            <a:prstGeom prst="rect">
              <a:avLst/>
            </a:prstGeom>
            <a:solidFill>
              <a:srgbClr val="4A4F5A"/>
            </a:solidFill>
            <a:ln w="12700">
              <a:solidFill>
                <a:srgbClr val="4A4F5A"/>
              </a:solidFill>
              <a:prstDash val="solid"/>
            </a:ln>
          </p:spPr>
        </p:sp>
        <p:sp>
          <p:nvSpPr>
            <p:cNvPr id="17" name="Shape 34"/>
            <p:cNvSpPr/>
            <p:nvPr/>
          </p:nvSpPr>
          <p:spPr>
            <a:xfrm>
              <a:off x="3054096" y="4515225"/>
              <a:ext cx="320040" cy="257943"/>
            </a:xfrm>
            <a:prstGeom prst="rect">
              <a:avLst/>
            </a:prstGeom>
            <a:solidFill>
              <a:srgbClr val="F85149"/>
            </a:solidFill>
            <a:ln w="12700">
              <a:solidFill>
                <a:srgbClr val="F85149"/>
              </a:solidFill>
              <a:prstDash val="solid"/>
            </a:ln>
          </p:spPr>
        </p:sp>
        <p:sp>
          <p:nvSpPr>
            <p:cNvPr id="18" name="Text 35"/>
            <p:cNvSpPr/>
            <p:nvPr/>
          </p:nvSpPr>
          <p:spPr>
            <a:xfrm>
              <a:off x="2578608" y="4791456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</a:rPr>
                <a:t>5-10k</a:t>
              </a:r>
              <a:endParaRPr lang="en-US" sz="900" dirty="0"/>
            </a:p>
          </p:txBody>
        </p:sp>
        <p:sp>
          <p:nvSpPr>
            <p:cNvPr id="19" name="Shape 36"/>
            <p:cNvSpPr/>
            <p:nvPr/>
          </p:nvSpPr>
          <p:spPr>
            <a:xfrm>
              <a:off x="4242816" y="4386254"/>
              <a:ext cx="320040" cy="386914"/>
            </a:xfrm>
            <a:prstGeom prst="rect">
              <a:avLst/>
            </a:prstGeom>
            <a:solidFill>
              <a:srgbClr val="4A4F5A"/>
            </a:solidFill>
            <a:ln w="12700">
              <a:solidFill>
                <a:srgbClr val="4A4F5A"/>
              </a:solidFill>
              <a:prstDash val="solid"/>
            </a:ln>
          </p:spPr>
        </p:sp>
        <p:sp>
          <p:nvSpPr>
            <p:cNvPr id="20" name="Shape 37"/>
            <p:cNvSpPr/>
            <p:nvPr/>
          </p:nvSpPr>
          <p:spPr>
            <a:xfrm>
              <a:off x="4626864" y="4367829"/>
              <a:ext cx="320040" cy="405339"/>
            </a:xfrm>
            <a:prstGeom prst="rect">
              <a:avLst/>
            </a:prstGeom>
            <a:solidFill>
              <a:srgbClr val="F85149"/>
            </a:solidFill>
            <a:ln w="12700">
              <a:solidFill>
                <a:srgbClr val="F85149"/>
              </a:solidFill>
              <a:prstDash val="solid"/>
            </a:ln>
          </p:spPr>
        </p:sp>
        <p:sp>
          <p:nvSpPr>
            <p:cNvPr id="21" name="Text 38"/>
            <p:cNvSpPr/>
            <p:nvPr/>
          </p:nvSpPr>
          <p:spPr>
            <a:xfrm>
              <a:off x="4151376" y="4791456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</a:rPr>
                <a:t>10-20k</a:t>
              </a:r>
              <a:endParaRPr lang="en-US" sz="900" dirty="0"/>
            </a:p>
          </p:txBody>
        </p:sp>
        <p:sp>
          <p:nvSpPr>
            <p:cNvPr id="22" name="Shape 39"/>
            <p:cNvSpPr/>
            <p:nvPr/>
          </p:nvSpPr>
          <p:spPr>
            <a:xfrm>
              <a:off x="5815584" y="4429244"/>
              <a:ext cx="320040" cy="343924"/>
            </a:xfrm>
            <a:prstGeom prst="rect">
              <a:avLst/>
            </a:prstGeom>
            <a:solidFill>
              <a:srgbClr val="4A4F5A"/>
            </a:solidFill>
            <a:ln w="12700">
              <a:solidFill>
                <a:srgbClr val="4A4F5A"/>
              </a:solidFill>
              <a:prstDash val="solid"/>
            </a:ln>
          </p:spPr>
        </p:sp>
        <p:sp>
          <p:nvSpPr>
            <p:cNvPr id="23" name="Shape 40"/>
            <p:cNvSpPr/>
            <p:nvPr/>
          </p:nvSpPr>
          <p:spPr>
            <a:xfrm>
              <a:off x="6199632" y="4613489"/>
              <a:ext cx="320040" cy="159679"/>
            </a:xfrm>
            <a:prstGeom prst="rect">
              <a:avLst/>
            </a:prstGeom>
            <a:solidFill>
              <a:srgbClr val="F85149"/>
            </a:solidFill>
            <a:ln w="12700">
              <a:solidFill>
                <a:srgbClr val="F85149"/>
              </a:solidFill>
              <a:prstDash val="solid"/>
            </a:ln>
          </p:spPr>
        </p:sp>
        <p:sp>
          <p:nvSpPr>
            <p:cNvPr id="24" name="Text 41"/>
            <p:cNvSpPr/>
            <p:nvPr/>
          </p:nvSpPr>
          <p:spPr>
            <a:xfrm>
              <a:off x="5724144" y="4791456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</a:rPr>
                <a:t>20-30k</a:t>
              </a:r>
              <a:endParaRPr lang="en-US" sz="900" dirty="0"/>
            </a:p>
          </p:txBody>
        </p:sp>
        <p:sp>
          <p:nvSpPr>
            <p:cNvPr id="25" name="Shape 42"/>
            <p:cNvSpPr/>
            <p:nvPr/>
          </p:nvSpPr>
          <p:spPr>
            <a:xfrm>
              <a:off x="7388352" y="4361688"/>
              <a:ext cx="320040" cy="411480"/>
            </a:xfrm>
            <a:prstGeom prst="rect">
              <a:avLst/>
            </a:prstGeom>
            <a:solidFill>
              <a:srgbClr val="4A4F5A"/>
            </a:solidFill>
            <a:ln w="12700">
              <a:solidFill>
                <a:srgbClr val="4A4F5A"/>
              </a:solidFill>
              <a:prstDash val="solid"/>
            </a:ln>
          </p:spPr>
        </p:sp>
        <p:sp>
          <p:nvSpPr>
            <p:cNvPr id="26" name="Shape 43"/>
            <p:cNvSpPr/>
            <p:nvPr/>
          </p:nvSpPr>
          <p:spPr>
            <a:xfrm>
              <a:off x="7772400" y="4533650"/>
              <a:ext cx="320040" cy="239518"/>
            </a:xfrm>
            <a:prstGeom prst="rect">
              <a:avLst/>
            </a:prstGeom>
            <a:solidFill>
              <a:srgbClr val="F85149"/>
            </a:solidFill>
            <a:ln w="12700">
              <a:solidFill>
                <a:srgbClr val="F85149"/>
              </a:solidFill>
              <a:prstDash val="solid"/>
            </a:ln>
          </p:spPr>
        </p:sp>
        <p:sp>
          <p:nvSpPr>
            <p:cNvPr id="27" name="Text 44"/>
            <p:cNvSpPr/>
            <p:nvPr/>
          </p:nvSpPr>
          <p:spPr>
            <a:xfrm>
              <a:off x="7296912" y="4791456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8B949E"/>
                  </a:solidFill>
                </a:rPr>
                <a:t>30k+</a:t>
              </a:r>
              <a:endParaRPr lang="en-US" sz="900" dirty="0"/>
            </a:p>
          </p:txBody>
        </p:sp>
        <p:sp>
          <p:nvSpPr>
            <p:cNvPr id="28" name="Text 45"/>
            <p:cNvSpPr/>
            <p:nvPr/>
          </p:nvSpPr>
          <p:spPr>
            <a:xfrm>
              <a:off x="6858000" y="4023360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B949E"/>
                  </a:solidFill>
                </a:rPr>
                <a:t>■ 2021  ■ 2026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9800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23031" y="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</a:rPr>
              <a:t>STORY </a:t>
            </a:r>
            <a:r>
              <a:rPr lang="en-US" sz="900" b="1" kern="0" spc="300" dirty="0" smtClean="0">
                <a:solidFill>
                  <a:srgbClr val="F5A623"/>
                </a:solidFill>
              </a:rPr>
              <a:t>3  </a:t>
            </a:r>
            <a:r>
              <a:rPr lang="en-US" sz="900" b="1" kern="0" spc="300" dirty="0">
                <a:solidFill>
                  <a:srgbClr val="F5A623"/>
                </a:solidFill>
              </a:rPr>
              <a:t>·  </a:t>
            </a:r>
            <a:r>
              <a:rPr lang="en-US" sz="900" b="1" kern="0" spc="300" dirty="0" smtClean="0">
                <a:solidFill>
                  <a:srgbClr val="F5A623"/>
                </a:solidFill>
              </a:rPr>
              <a:t>The Margin story</a:t>
            </a:r>
            <a:endParaRPr lang="en-US" sz="900" dirty="0"/>
          </a:p>
        </p:txBody>
      </p:sp>
      <p:sp>
        <p:nvSpPr>
          <p:cNvPr id="5" name="Text 66"/>
          <p:cNvSpPr/>
          <p:nvPr/>
        </p:nvSpPr>
        <p:spPr>
          <a:xfrm>
            <a:off x="611024" y="5776187"/>
            <a:ext cx="9208094" cy="513518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85149"/>
                </a:solidFill>
              </a:rPr>
              <a:t>KEY INSIGHT:  </a:t>
            </a:r>
            <a:r>
              <a:rPr lang="en-US" b="1" dirty="0" err="1" smtClean="0">
                <a:solidFill>
                  <a:srgbClr val="F85149"/>
                </a:solidFill>
              </a:rPr>
              <a:t>Tiruppattur</a:t>
            </a:r>
            <a:r>
              <a:rPr lang="en-US" b="1" dirty="0" smtClean="0">
                <a:solidFill>
                  <a:srgbClr val="F85149"/>
                </a:solidFill>
              </a:rPr>
              <a:t> </a:t>
            </a:r>
            <a:r>
              <a:rPr lang="en-US" b="1" dirty="0">
                <a:solidFill>
                  <a:srgbClr val="F85149"/>
                </a:solidFill>
              </a:rPr>
              <a:t>was decided by just 1 vote. Edappadi by 98,110. The same election produced both — a sign of deep fragmentation.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407301" y="441314"/>
            <a:ext cx="50840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solidFill>
                  <a:srgbClr val="FFFFFF"/>
                </a:solidFill>
              </a:rPr>
              <a:t>5 Closest &amp; 5 Biggest Wins · 2026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407301" y="1054844"/>
            <a:ext cx="10360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Several constituencies were decided by margins small enough to be influenced by a single polling booth.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1940" y="2475212"/>
            <a:ext cx="2743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/>
              <a:t>Top Closest Contests Table</a:t>
            </a:r>
            <a:r>
              <a:rPr lang="en-IN" dirty="0" smtClean="0"/>
              <a:t>.</a:t>
            </a:r>
            <a:endParaRPr lang="en-IN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099083"/>
              </p:ext>
            </p:extLst>
          </p:nvPr>
        </p:nvGraphicFramePr>
        <p:xfrm>
          <a:off x="781940" y="3001393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Constituency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Margin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Tiruppattur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Veppanahalli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138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Kanniyakumari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214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Polur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227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Tirukkoyilur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25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6771" y="1013882"/>
            <a:ext cx="48992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Rectangle 4"/>
          <p:cNvSpPr/>
          <p:nvPr/>
        </p:nvSpPr>
        <p:spPr>
          <a:xfrm>
            <a:off x="1076771" y="2167564"/>
            <a:ext cx="35389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i="1" dirty="0" smtClean="0">
                <a:solidFill>
                  <a:srgbClr val="F5A623"/>
                </a:solidFill>
              </a:rPr>
              <a:t>Questions &amp; Discussion</a:t>
            </a:r>
            <a:endParaRPr lang="en-US" sz="2800" dirty="0"/>
          </a:p>
        </p:txBody>
      </p:sp>
      <p:grpSp>
        <p:nvGrpSpPr>
          <p:cNvPr id="6" name="Group 5"/>
          <p:cNvGrpSpPr/>
          <p:nvPr/>
        </p:nvGrpSpPr>
        <p:grpSpPr>
          <a:xfrm>
            <a:off x="1076771" y="3050847"/>
            <a:ext cx="7921950" cy="1375873"/>
            <a:chOff x="365760" y="2743200"/>
            <a:chExt cx="6272784" cy="914400"/>
          </a:xfrm>
        </p:grpSpPr>
        <p:sp>
          <p:nvSpPr>
            <p:cNvPr id="7" name="Shape 4"/>
            <p:cNvSpPr/>
            <p:nvPr/>
          </p:nvSpPr>
          <p:spPr>
            <a:xfrm>
              <a:off x="365760" y="2743200"/>
              <a:ext cx="1920240" cy="0"/>
            </a:xfrm>
            <a:prstGeom prst="line">
              <a:avLst/>
            </a:prstGeom>
            <a:noFill/>
            <a:ln w="12700">
              <a:solidFill>
                <a:srgbClr val="21262D"/>
              </a:solidFill>
              <a:prstDash val="solid"/>
            </a:ln>
          </p:spPr>
        </p:sp>
        <p:sp>
          <p:nvSpPr>
            <p:cNvPr id="8" name="Text 5"/>
            <p:cNvSpPr/>
            <p:nvPr/>
          </p:nvSpPr>
          <p:spPr>
            <a:xfrm>
              <a:off x="365760" y="2834640"/>
              <a:ext cx="192024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3FB950"/>
                  </a:solidFill>
                </a:rPr>
                <a:t>234</a:t>
              </a:r>
              <a:endParaRPr lang="en-US" sz="3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365760" y="3401568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B949E"/>
                  </a:solidFill>
                </a:rPr>
                <a:t>Constituencies</a:t>
              </a:r>
              <a:endParaRPr lang="en-US" sz="11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2542032" y="2743200"/>
              <a:ext cx="1920240" cy="0"/>
            </a:xfrm>
            <a:prstGeom prst="line">
              <a:avLst/>
            </a:prstGeom>
            <a:noFill/>
            <a:ln w="12700">
              <a:solidFill>
                <a:srgbClr val="21262D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2542032" y="2834640"/>
              <a:ext cx="192024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3FB950"/>
                  </a:solidFill>
                </a:rPr>
                <a:t>163</a:t>
              </a:r>
              <a:endParaRPr lang="en-US" sz="3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2542032" y="3401568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B949E"/>
                  </a:solidFill>
                </a:rPr>
                <a:t>Seats Flipped</a:t>
              </a:r>
              <a:endParaRPr lang="en-US" sz="11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718304" y="2743200"/>
              <a:ext cx="1920240" cy="0"/>
            </a:xfrm>
            <a:prstGeom prst="line">
              <a:avLst/>
            </a:prstGeom>
            <a:noFill/>
            <a:ln w="12700">
              <a:solidFill>
                <a:srgbClr val="21262D"/>
              </a:solidFill>
              <a:prstDash val="solid"/>
            </a:ln>
          </p:spPr>
        </p:sp>
        <p:sp>
          <p:nvSpPr>
            <p:cNvPr id="14" name="Text 11"/>
            <p:cNvSpPr/>
            <p:nvPr/>
          </p:nvSpPr>
          <p:spPr>
            <a:xfrm>
              <a:off x="4718304" y="2834640"/>
              <a:ext cx="1920240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3FB950"/>
                  </a:solidFill>
                </a:rPr>
                <a:t>35%</a:t>
              </a:r>
              <a:endParaRPr lang="en-US" sz="32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718304" y="3401568"/>
              <a:ext cx="19202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8B949E"/>
                  </a:solidFill>
                </a:rPr>
                <a:t>TVK Debut Share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23296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</TotalTime>
  <Words>901</Words>
  <Application>Microsoft Office PowerPoint</Application>
  <PresentationFormat>Widescreen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Wingdings</vt:lpstr>
      <vt:lpstr>Office Theme</vt:lpstr>
      <vt:lpstr>TAMIL NAIDU 2026  ·  ELECTION RESULT ANALYSIS </vt:lpstr>
      <vt:lpstr>PowerPoint Presentation</vt:lpstr>
      <vt:lpstr>The 2026 Result at a Glance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TAMIL NAIDU 2026  ·  ELECTION RESULT ANALYSIS</dc:title>
  <dc:creator>Microsoft account</dc:creator>
  <cp:lastModifiedBy>Microsoft account</cp:lastModifiedBy>
  <cp:revision>26</cp:revision>
  <dcterms:created xsi:type="dcterms:W3CDTF">2026-06-03T04:11:24Z</dcterms:created>
  <dcterms:modified xsi:type="dcterms:W3CDTF">2026-06-03T07:55:30Z</dcterms:modified>
</cp:coreProperties>
</file>